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9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1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0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3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2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7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3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25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4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7429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04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97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65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11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84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CA20119-4B8B-4E2A-963E-6E74279E59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50455-0223-4224-94E2-01B7197A0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494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/>
              <a:t>Agile Methodology – Detailed Overview</a:t>
            </a:r>
            <a:br>
              <a:rPr lang="en-US" sz="3200" b="1" dirty="0" smtClean="0"/>
            </a:br>
            <a:r>
              <a:rPr lang="en-US" sz="3200" b="1" dirty="0" smtClean="0"/>
              <a:t>Topics Covered:</a:t>
            </a:r>
            <a:endParaRPr lang="en-US" sz="32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576543"/>
            <a:ext cx="9144000" cy="1655762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 smtClean="0"/>
              <a:t>Agile Methodology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 smtClean="0"/>
              <a:t>Epic, Feature, Story, Subtask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 smtClean="0"/>
              <a:t>Sprint &amp; Sprint Planning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 smtClean="0"/>
              <a:t>Backlog Refinement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 smtClean="0"/>
              <a:t>Retrospective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1290" y="0"/>
            <a:ext cx="2356142" cy="216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3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What is Agile Methodology?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10515600" cy="4989779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Agile is a </a:t>
            </a:r>
            <a:r>
              <a:rPr lang="en-US" b="1" dirty="0" smtClean="0"/>
              <a:t>software development approach</a:t>
            </a:r>
            <a:r>
              <a:rPr lang="en-US" dirty="0" smtClean="0"/>
              <a:t> where work is done in </a:t>
            </a:r>
            <a:r>
              <a:rPr lang="en-US" b="1" dirty="0" smtClean="0"/>
              <a:t>small steps</a:t>
            </a:r>
            <a:r>
              <a:rPr lang="en-US" dirty="0" smtClean="0"/>
              <a:t> and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delivered </a:t>
            </a:r>
            <a:r>
              <a:rPr lang="en-US" b="1" dirty="0" smtClean="0"/>
              <a:t>frequently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Key Points:</a:t>
            </a:r>
          </a:p>
          <a:p>
            <a:r>
              <a:rPr lang="en-US" dirty="0" smtClean="0"/>
              <a:t>Focuses on </a:t>
            </a:r>
            <a:r>
              <a:rPr lang="en-US" b="1" dirty="0" smtClean="0"/>
              <a:t>customer satisfaction</a:t>
            </a:r>
            <a:endParaRPr lang="en-US" dirty="0" smtClean="0"/>
          </a:p>
          <a:p>
            <a:r>
              <a:rPr lang="en-US" dirty="0" smtClean="0"/>
              <a:t>Accepts </a:t>
            </a:r>
            <a:r>
              <a:rPr lang="en-US" b="1" dirty="0" smtClean="0"/>
              <a:t>changing requirements</a:t>
            </a:r>
            <a:endParaRPr lang="en-US" dirty="0" smtClean="0"/>
          </a:p>
          <a:p>
            <a:r>
              <a:rPr lang="en-US" dirty="0" smtClean="0"/>
              <a:t>Delivers </a:t>
            </a:r>
            <a:r>
              <a:rPr lang="en-US" b="1" dirty="0" smtClean="0"/>
              <a:t>working software quickly</a:t>
            </a:r>
            <a:endParaRPr lang="en-US" dirty="0" smtClean="0"/>
          </a:p>
          <a:p>
            <a:r>
              <a:rPr lang="en-US" dirty="0" smtClean="0"/>
              <a:t>Encourages </a:t>
            </a:r>
            <a:r>
              <a:rPr lang="en-US" b="1" dirty="0" smtClean="0"/>
              <a:t>team collaboration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Real-Time Example:</a:t>
            </a:r>
          </a:p>
          <a:p>
            <a:r>
              <a:rPr lang="en-US" dirty="0" smtClean="0"/>
              <a:t>A shopping app is developed step by step:</a:t>
            </a:r>
          </a:p>
          <a:p>
            <a:r>
              <a:rPr lang="en-US" dirty="0" smtClean="0"/>
              <a:t>First: Login</a:t>
            </a:r>
          </a:p>
          <a:p>
            <a:r>
              <a:rPr lang="en-US" dirty="0" smtClean="0"/>
              <a:t>Second: Product list</a:t>
            </a:r>
          </a:p>
          <a:p>
            <a:r>
              <a:rPr lang="en-US" dirty="0" smtClean="0"/>
              <a:t>Third: Payment</a:t>
            </a:r>
          </a:p>
          <a:p>
            <a:r>
              <a:rPr lang="en-US" dirty="0" smtClean="0"/>
              <a:t>Fourth: Order tracking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208" y="0"/>
            <a:ext cx="2091223" cy="176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2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Agile is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Traditional methods deliver software at the </a:t>
            </a:r>
            <a:r>
              <a:rPr lang="en-US" b="1" dirty="0" smtClean="0"/>
              <a:t>end</a:t>
            </a:r>
            <a:r>
              <a:rPr lang="en-US" dirty="0" smtClean="0"/>
              <a:t>, but Agile delivers </a:t>
            </a:r>
            <a:r>
              <a:rPr lang="en-US" b="1" dirty="0" smtClean="0"/>
              <a:t>continuously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Benefits:</a:t>
            </a:r>
          </a:p>
          <a:p>
            <a:r>
              <a:rPr lang="en-US" dirty="0" smtClean="0"/>
              <a:t>Faster delivery</a:t>
            </a:r>
          </a:p>
          <a:p>
            <a:r>
              <a:rPr lang="en-US" dirty="0" smtClean="0"/>
              <a:t>Easy to handle changes</a:t>
            </a:r>
          </a:p>
          <a:p>
            <a:r>
              <a:rPr lang="en-US" dirty="0" smtClean="0"/>
              <a:t>Better quality</a:t>
            </a:r>
          </a:p>
          <a:p>
            <a:r>
              <a:rPr lang="en-US" dirty="0" smtClean="0"/>
              <a:t>Regular feedback</a:t>
            </a:r>
          </a:p>
          <a:p>
            <a:r>
              <a:rPr lang="en-US" dirty="0" smtClean="0"/>
              <a:t>Reduced risk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576" y="1"/>
            <a:ext cx="2022856" cy="186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an Epic?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 </a:t>
            </a:r>
            <a:r>
              <a:rPr lang="en-US" b="1" dirty="0" smtClean="0"/>
              <a:t>Epic</a:t>
            </a:r>
            <a:r>
              <a:rPr lang="en-US" dirty="0" smtClean="0"/>
              <a:t> is a </a:t>
            </a:r>
            <a:r>
              <a:rPr lang="en-US" b="1" dirty="0" smtClean="0"/>
              <a:t>large business requirement</a:t>
            </a:r>
            <a:r>
              <a:rPr lang="en-US" dirty="0" smtClean="0"/>
              <a:t> that is too big to complete in one sprint.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Example:</a:t>
            </a:r>
          </a:p>
          <a:p>
            <a:r>
              <a:rPr lang="en-US" b="1" dirty="0" smtClean="0"/>
              <a:t>Epic:</a:t>
            </a:r>
            <a:r>
              <a:rPr lang="en-US" dirty="0" smtClean="0"/>
              <a:t> Online Food Delivery App</a:t>
            </a:r>
          </a:p>
          <a:p>
            <a:endParaRPr lang="en-US" dirty="0" smtClean="0"/>
          </a:p>
          <a:p>
            <a:r>
              <a:rPr lang="en-US" b="1" dirty="0" smtClean="0"/>
              <a:t>Why Epic?</a:t>
            </a:r>
          </a:p>
          <a:p>
            <a:r>
              <a:rPr lang="en-US" dirty="0" smtClean="0"/>
              <a:t>Helps organize large work</a:t>
            </a:r>
          </a:p>
          <a:p>
            <a:r>
              <a:rPr lang="en-US" dirty="0" smtClean="0"/>
              <a:t>Broken into smaller features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466" y="0"/>
            <a:ext cx="1983965" cy="18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What is a Feature?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31621"/>
            <a:ext cx="10515600" cy="4351338"/>
          </a:xfrm>
        </p:spPr>
        <p:txBody>
          <a:bodyPr/>
          <a:lstStyle/>
          <a:p>
            <a:r>
              <a:rPr lang="en-US" dirty="0" smtClean="0"/>
              <a:t>A Feature is an important function of an application that helps users perform a specific task.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Example (Food App):</a:t>
            </a:r>
          </a:p>
          <a:p>
            <a:r>
              <a:rPr lang="en-US" dirty="0" smtClean="0"/>
              <a:t>User Login</a:t>
            </a:r>
          </a:p>
          <a:p>
            <a:r>
              <a:rPr lang="en-US" dirty="0" smtClean="0"/>
              <a:t>Restaurant Search</a:t>
            </a:r>
          </a:p>
          <a:p>
            <a:r>
              <a:rPr lang="en-US" dirty="0" smtClean="0"/>
              <a:t>Order Food</a:t>
            </a:r>
          </a:p>
          <a:p>
            <a:r>
              <a:rPr lang="en-US" dirty="0" smtClean="0"/>
              <a:t>Payment System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8546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4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 User Story?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97782" y="1859162"/>
            <a:ext cx="1039643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Story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requirement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written from the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user’s perspective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Story Format: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user, I want ___ so that ___.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user, I want to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restaurants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that I can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food easily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0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9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Subtask?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Subtask is a small piece of work done to finish a user story.</a:t>
            </a:r>
            <a:r>
              <a:rPr lang="en-US" b="1" dirty="0" smtClean="0"/>
              <a:t>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Example (Login Story):</a:t>
            </a:r>
            <a:endParaRPr lang="en-US" dirty="0" smtClean="0"/>
          </a:p>
          <a:p>
            <a:r>
              <a:rPr lang="en-US" dirty="0" smtClean="0"/>
              <a:t>Create login page</a:t>
            </a:r>
          </a:p>
          <a:p>
            <a:r>
              <a:rPr lang="en-US" dirty="0" smtClean="0"/>
              <a:t>Check user password</a:t>
            </a:r>
          </a:p>
          <a:p>
            <a:r>
              <a:rPr lang="en-US" dirty="0" smtClean="0"/>
              <a:t>Connect to server</a:t>
            </a:r>
          </a:p>
          <a:p>
            <a:r>
              <a:rPr lang="en-US" dirty="0" smtClean="0"/>
              <a:t>Test login feature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0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3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a Sprint?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 smtClean="0"/>
              <a:t>A </a:t>
            </a:r>
            <a:r>
              <a:rPr lang="en-US" sz="1800" b="1" dirty="0" smtClean="0"/>
              <a:t>Sprint</a:t>
            </a:r>
            <a:r>
              <a:rPr lang="en-US" sz="1800" dirty="0" smtClean="0"/>
              <a:t> is a </a:t>
            </a:r>
            <a:r>
              <a:rPr lang="en-US" sz="1800" b="1" dirty="0" smtClean="0"/>
              <a:t>fixed time box</a:t>
            </a:r>
            <a:r>
              <a:rPr lang="en-US" sz="1800" dirty="0" smtClean="0"/>
              <a:t> during which the team completes selected stories.</a:t>
            </a:r>
          </a:p>
          <a:p>
            <a:r>
              <a:rPr lang="en-US" sz="1800" b="1" dirty="0" smtClean="0"/>
              <a:t>Sprint Duration:</a:t>
            </a:r>
          </a:p>
          <a:p>
            <a:pPr marL="0" indent="0">
              <a:buNone/>
            </a:pPr>
            <a:r>
              <a:rPr lang="en-US" sz="1800" dirty="0" smtClean="0"/>
              <a:t>    Usually 1 or 2 weeks</a:t>
            </a:r>
          </a:p>
          <a:p>
            <a:r>
              <a:rPr lang="en-US" sz="1800" b="1" dirty="0" smtClean="0"/>
              <a:t>Goal:</a:t>
            </a:r>
          </a:p>
          <a:p>
            <a:r>
              <a:rPr lang="en-US" sz="1800" dirty="0" smtClean="0"/>
              <a:t>Deliver </a:t>
            </a:r>
            <a:r>
              <a:rPr lang="en-US" sz="1800" b="1" dirty="0" smtClean="0"/>
              <a:t>working software</a:t>
            </a:r>
          </a:p>
          <a:p>
            <a:r>
              <a:rPr lang="en-US" sz="1800" b="1" dirty="0" smtClean="0"/>
              <a:t>Sprint Example</a:t>
            </a:r>
          </a:p>
          <a:p>
            <a:pPr marL="0" indent="0">
              <a:buNone/>
            </a:pPr>
            <a:r>
              <a:rPr lang="en-US" sz="1800" dirty="0" smtClean="0"/>
              <a:t>    Sprint Duration: </a:t>
            </a:r>
            <a:r>
              <a:rPr lang="en-US" sz="1800" b="1" dirty="0" smtClean="0"/>
              <a:t>2 weeks</a:t>
            </a:r>
            <a:endParaRPr lang="en-US" sz="1800" dirty="0" smtClean="0"/>
          </a:p>
          <a:p>
            <a:r>
              <a:rPr lang="en-US" sz="1800" dirty="0" smtClean="0"/>
              <a:t>Sprint Goal: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Complete Login and OTP verification</a:t>
            </a:r>
          </a:p>
          <a:p>
            <a:r>
              <a:rPr lang="en-US" sz="1800" dirty="0" smtClean="0"/>
              <a:t>Sprint Output:</a:t>
            </a:r>
          </a:p>
          <a:p>
            <a:pPr marL="0" indent="0">
              <a:buNone/>
            </a:pPr>
            <a:r>
              <a:rPr lang="en-US" sz="1800" dirty="0" smtClean="0"/>
              <a:t>      User can log in successfully</a:t>
            </a:r>
          </a:p>
          <a:p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0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12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Sprint Planning?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Sprint Planning is a </a:t>
            </a:r>
            <a:r>
              <a:rPr lang="en-US" b="1" dirty="0" smtClean="0"/>
              <a:t>meeting</a:t>
            </a:r>
            <a:r>
              <a:rPr lang="en-US" dirty="0" smtClean="0"/>
              <a:t> where the team decides:</a:t>
            </a:r>
          </a:p>
          <a:p>
            <a:r>
              <a:rPr lang="en-US" dirty="0" smtClean="0"/>
              <a:t>Which stories to work on</a:t>
            </a:r>
          </a:p>
          <a:p>
            <a:r>
              <a:rPr lang="en-US" dirty="0" smtClean="0"/>
              <a:t>How much work can be completed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Example:-</a:t>
            </a:r>
            <a:endParaRPr lang="en-US" dirty="0"/>
          </a:p>
          <a:p>
            <a:r>
              <a:rPr lang="en-US" dirty="0" smtClean="0"/>
              <a:t>In 2 weeks, the team will complete the </a:t>
            </a:r>
            <a:r>
              <a:rPr lang="en-US" b="1" dirty="0" smtClean="0"/>
              <a:t>Login</a:t>
            </a:r>
            <a:r>
              <a:rPr lang="en-US" dirty="0" smtClean="0"/>
              <a:t> and </a:t>
            </a:r>
            <a:r>
              <a:rPr lang="en-US" b="1" dirty="0" smtClean="0"/>
              <a:t>Signup</a:t>
            </a:r>
            <a:r>
              <a:rPr lang="en-US" dirty="0" smtClean="0"/>
              <a:t> features so users can start using the app.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0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44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Product Backlog?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Product Backlog is a </a:t>
            </a:r>
            <a:r>
              <a:rPr lang="en-US" b="1" dirty="0" smtClean="0"/>
              <a:t>prioritized list of all requirements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Contains:</a:t>
            </a:r>
          </a:p>
          <a:p>
            <a:r>
              <a:rPr lang="en-US" dirty="0" smtClean="0"/>
              <a:t>Epics</a:t>
            </a:r>
          </a:p>
          <a:p>
            <a:r>
              <a:rPr lang="en-US" dirty="0" smtClean="0"/>
              <a:t>Features</a:t>
            </a:r>
          </a:p>
          <a:p>
            <a:r>
              <a:rPr lang="en-US" dirty="0" smtClean="0"/>
              <a:t>Stories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0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07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Backlog Refinement?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Backlog Refinement is the process of </a:t>
            </a:r>
            <a:r>
              <a:rPr lang="en-US" b="1" dirty="0" smtClean="0"/>
              <a:t>reviewing and improving backlog items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Backlog Refinement Example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Before Refinement: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“User Profile”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After Refinement: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View profile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Edit profile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Change password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Upload photo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0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7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What is Retrospective?</a:t>
            </a:r>
            <a:br>
              <a:rPr lang="en-US" sz="2400" b="1" dirty="0" smtClean="0"/>
            </a:br>
            <a:r>
              <a:rPr lang="en-US" sz="2400" b="1" dirty="0" smtClean="0"/>
              <a:t>and</a:t>
            </a:r>
            <a:br>
              <a:rPr lang="en-US" sz="2400" b="1" dirty="0" smtClean="0"/>
            </a:br>
            <a:r>
              <a:rPr lang="en-US" sz="2400" b="1" dirty="0" smtClean="0"/>
              <a:t>Retrospective Discussion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Retrospective</a:t>
            </a:r>
            <a:r>
              <a:rPr lang="en-US" dirty="0" smtClean="0"/>
              <a:t> is a meeting held </a:t>
            </a:r>
            <a:r>
              <a:rPr lang="en-US" b="1" dirty="0" smtClean="0"/>
              <a:t>after sprint completion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Purpose: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 smtClean="0"/>
              <a:t>Improve the team’s working process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What went well?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What didn’t go well?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What can be improved?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Example:</a:t>
            </a:r>
          </a:p>
          <a:p>
            <a:r>
              <a:rPr lang="en-US" dirty="0" smtClean="0"/>
              <a:t>Good: Stories completed on time</a:t>
            </a:r>
          </a:p>
          <a:p>
            <a:r>
              <a:rPr lang="en-US" dirty="0" smtClean="0"/>
              <a:t>Issue: Testing delay</a:t>
            </a:r>
          </a:p>
          <a:p>
            <a:r>
              <a:rPr lang="en-US" dirty="0" smtClean="0"/>
              <a:t>Action: Start testing earlier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0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3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Agile helps teams:</a:t>
            </a:r>
          </a:p>
          <a:p>
            <a:r>
              <a:rPr lang="en-US" dirty="0" smtClean="0"/>
              <a:t>Deliver faster</a:t>
            </a:r>
          </a:p>
          <a:p>
            <a:r>
              <a:rPr lang="en-US" smtClean="0"/>
              <a:t>Improve </a:t>
            </a:r>
            <a:r>
              <a:rPr lang="en-US" dirty="0" smtClean="0"/>
              <a:t>quality</a:t>
            </a:r>
          </a:p>
          <a:p>
            <a:r>
              <a:rPr lang="en-US" dirty="0" smtClean="0"/>
              <a:t>Work collaboratively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0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37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Thank You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Questions?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" y="2475075"/>
            <a:ext cx="5852624" cy="30540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84" y="0"/>
            <a:ext cx="2245047" cy="17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595</TotalTime>
  <Words>517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Century Gothic</vt:lpstr>
      <vt:lpstr>Courier New</vt:lpstr>
      <vt:lpstr>Wingdings</vt:lpstr>
      <vt:lpstr>Wingdings 3</vt:lpstr>
      <vt:lpstr>Ion</vt:lpstr>
      <vt:lpstr>Agile Methodology – Detailed Overview Topics Covered:</vt:lpstr>
      <vt:lpstr>What is Agile Methodology?</vt:lpstr>
      <vt:lpstr>Why Agile is Used?</vt:lpstr>
      <vt:lpstr>What is an Epic?</vt:lpstr>
      <vt:lpstr>What is a Feature?</vt:lpstr>
      <vt:lpstr>What is a User Story?</vt:lpstr>
      <vt:lpstr>What is a Subtask?</vt:lpstr>
      <vt:lpstr>What is a Sprint?</vt:lpstr>
      <vt:lpstr>What is Sprint Planning?</vt:lpstr>
      <vt:lpstr>What is Product Backlog?</vt:lpstr>
      <vt:lpstr>What is Backlog Refinement?</vt:lpstr>
      <vt:lpstr>What is Retrospective? and Retrospective Discussion Points</vt:lpstr>
      <vt:lpstr>Conclusion 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 – Detailed Overview Topics Covered:</dc:title>
  <dc:creator>Admin</dc:creator>
  <cp:lastModifiedBy>Admin</cp:lastModifiedBy>
  <cp:revision>10</cp:revision>
  <dcterms:created xsi:type="dcterms:W3CDTF">2026-02-08T09:28:12Z</dcterms:created>
  <dcterms:modified xsi:type="dcterms:W3CDTF">2026-02-13T09:48:35Z</dcterms:modified>
</cp:coreProperties>
</file>