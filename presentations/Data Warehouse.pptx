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sldIdLst>
    <p:sldId id="256" r:id="rId2"/>
    <p:sldId id="261" r:id="rId3"/>
    <p:sldId id="258" r:id="rId4"/>
    <p:sldId id="257" r:id="rId5"/>
    <p:sldId id="259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36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-1" y="2545080"/>
            <a:ext cx="9144000" cy="3255264"/>
          </a:xfrm>
          <a:prstGeom prst="rect">
            <a:avLst/>
          </a:prstGeom>
          <a:solidFill>
            <a:srgbClr val="FFFFFF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-1" y="2667000"/>
            <a:ext cx="9144000" cy="2739571"/>
          </a:xfrm>
          <a:prstGeom prst="rect">
            <a:avLst/>
          </a:prstGeom>
          <a:solidFill>
            <a:schemeClr val="accent2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-1" y="5479143"/>
            <a:ext cx="9144000" cy="235857"/>
          </a:xfrm>
          <a:prstGeom prst="rect">
            <a:avLst/>
          </a:prstGeom>
          <a:solidFill>
            <a:schemeClr val="accent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599" y="2819400"/>
            <a:ext cx="8686800" cy="1470025"/>
          </a:xfrm>
        </p:spPr>
        <p:txBody>
          <a:bodyPr anchor="b">
            <a:noAutofit/>
          </a:bodyPr>
          <a:lstStyle>
            <a:lvl1pPr>
              <a:defRPr sz="7200" b="0" cap="none" spc="0">
                <a:ln w="13970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499" y="4800600"/>
            <a:ext cx="8001000" cy="5334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859F4-C32E-4C04-81BD-966633CAC503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91200" y="6356350"/>
            <a:ext cx="2895600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148584" y="4261104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spc="150" dirty="0" smtClean="0">
                <a:solidFill>
                  <a:schemeClr val="accent1"/>
                </a:solidFill>
                <a:sym typeface="Wingdings"/>
              </a:rPr>
              <a:t></a:t>
            </a:r>
            <a:endParaRPr lang="en-US" sz="3200" spc="150" dirty="0">
              <a:solidFill>
                <a:schemeClr val="accent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62399" y="4392168"/>
            <a:ext cx="1219200" cy="365125"/>
          </a:xfrm>
        </p:spPr>
        <p:txBody>
          <a:bodyPr/>
          <a:lstStyle>
            <a:lvl1pPr algn="ctr">
              <a:defRPr sz="2400">
                <a:latin typeface="+mj-lt"/>
              </a:defRPr>
            </a:lvl1pPr>
          </a:lstStyle>
          <a:p>
            <a:fld id="{740E7D30-C3BC-4480-A45C-5BDF31026CB6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4818888" y="4261104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200" spc="150" dirty="0" smtClean="0">
                <a:solidFill>
                  <a:schemeClr val="accent1"/>
                </a:solidFill>
                <a:sym typeface="Wingdings"/>
              </a:rPr>
              <a:t></a:t>
            </a:r>
            <a:endParaRPr lang="en-US" sz="3200" spc="150" dirty="0">
              <a:solidFill>
                <a:schemeClr val="accent1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859F4-C32E-4C04-81BD-966633CAC503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E7D30-C3BC-4480-A45C-5BDF31026CB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1" y="2545080"/>
            <a:ext cx="9144000" cy="3255264"/>
          </a:xfrm>
          <a:prstGeom prst="rect">
            <a:avLst/>
          </a:prstGeom>
          <a:solidFill>
            <a:srgbClr val="FFFFFF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-1" y="2667000"/>
            <a:ext cx="9144000" cy="2739571"/>
          </a:xfrm>
          <a:prstGeom prst="rect">
            <a:avLst/>
          </a:prstGeom>
          <a:solidFill>
            <a:schemeClr val="accent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-1" y="5479143"/>
            <a:ext cx="9144000" cy="235857"/>
          </a:xfrm>
          <a:prstGeom prst="rect">
            <a:avLst/>
          </a:prstGeom>
          <a:solidFill>
            <a:schemeClr val="accent2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599" y="2819400"/>
            <a:ext cx="8686800" cy="1463040"/>
          </a:xfrm>
        </p:spPr>
        <p:txBody>
          <a:bodyPr anchor="b" anchorCtr="0">
            <a:noAutofit/>
          </a:bodyPr>
          <a:lstStyle>
            <a:lvl1pPr algn="ctr">
              <a:defRPr sz="72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1499" y="4800600"/>
            <a:ext cx="8001000" cy="548640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859F4-C32E-4C04-81BD-966633CAC503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91200" y="6356350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59352" y="4389120"/>
            <a:ext cx="1216152" cy="365125"/>
          </a:xfr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fld id="{740E7D30-C3BC-4480-A45C-5BDF31026CB6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4818888" y="4261104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200" spc="150" dirty="0" smtClean="0">
                <a:solidFill>
                  <a:srgbClr val="FFFFFF"/>
                </a:solidFill>
                <a:sym typeface="Wingdings"/>
              </a:rPr>
              <a:t></a:t>
            </a:r>
            <a:endParaRPr lang="en-US" sz="3200" spc="150" dirty="0">
              <a:solidFill>
                <a:srgbClr val="FFFFF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48584" y="4261104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spc="150" dirty="0" smtClean="0">
                <a:solidFill>
                  <a:srgbClr val="FFFFFF"/>
                </a:solidFill>
                <a:sym typeface="Wingdings"/>
              </a:rPr>
              <a:t></a:t>
            </a:r>
            <a:endParaRPr lang="en-US" sz="3200" spc="150" dirty="0">
              <a:solidFill>
                <a:srgbClr val="FFFFFF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859F4-C32E-4C04-81BD-966633CAC503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E7D30-C3BC-4480-A45C-5BDF31026CB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 algn="ctr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 algn="ctr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859F4-C32E-4C04-81BD-966633CAC503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E7D30-C3BC-4480-A45C-5BDF31026CB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859F4-C32E-4C04-81BD-966633CAC503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E7D30-C3BC-4480-A45C-5BDF31026CB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859F4-C32E-4C04-81BD-966633CAC503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E7D30-C3BC-4480-A45C-5BDF31026CB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5638800" cy="946150"/>
          </a:xfrm>
        </p:spPr>
        <p:txBody>
          <a:bodyPr anchor="ctr">
            <a:noAutofit/>
          </a:bodyPr>
          <a:lstStyle>
            <a:lvl1pPr algn="l">
              <a:defRPr sz="4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912" y="1719072"/>
            <a:ext cx="8247888" cy="45354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859F4-C32E-4C04-81BD-966633CAC503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E7D30-C3BC-4480-A45C-5BDF31026CB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172200" y="161544"/>
            <a:ext cx="2971800" cy="115214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48400" y="274320"/>
            <a:ext cx="2743200" cy="944880"/>
          </a:xfrm>
        </p:spPr>
        <p:txBody>
          <a:bodyPr anchor="ctr">
            <a:normAutofit/>
          </a:bodyPr>
          <a:lstStyle>
            <a:lvl1pPr marL="0" indent="0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44768" y="134112"/>
            <a:ext cx="76200" cy="121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144768" y="134112"/>
            <a:ext cx="76200" cy="121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36880" y="1717040"/>
            <a:ext cx="8249920" cy="4531360"/>
          </a:xfrm>
          <a:solidFill>
            <a:schemeClr val="bg2">
              <a:lumMod val="60000"/>
              <a:lumOff val="40000"/>
            </a:schemeClr>
          </a:solidFill>
          <a:effectLst>
            <a:outerShdw blurRad="76200" dist="38100" dir="3600000" algn="ctr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859F4-C32E-4C04-81BD-966633CAC503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E7D30-C3BC-4480-A45C-5BDF31026CB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172200" y="161544"/>
            <a:ext cx="2971800" cy="115214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144768" y="134112"/>
            <a:ext cx="76200" cy="121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5638800" cy="1005840"/>
          </a:xfrm>
        </p:spPr>
        <p:txBody>
          <a:bodyPr anchor="ctr">
            <a:noAutofit/>
          </a:bodyPr>
          <a:lstStyle>
            <a:lvl1pPr algn="l">
              <a:defRPr sz="4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48400" y="228600"/>
            <a:ext cx="2819400" cy="1005840"/>
          </a:xfrm>
        </p:spPr>
        <p:txBody>
          <a:bodyPr anchor="ctr">
            <a:normAutofit/>
          </a:bodyPr>
          <a:lstStyle>
            <a:lvl1pPr marL="0" indent="0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44768" y="134112"/>
            <a:ext cx="76200" cy="121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859F4-C32E-4C04-81BD-966633CAC503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E7D30-C3BC-4480-A45C-5BDF31026CB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4591050" y="2409824"/>
            <a:ext cx="6858000" cy="2038351"/>
          </a:xfrm>
          <a:prstGeom prst="rect">
            <a:avLst/>
          </a:prstGeom>
          <a:solidFill>
            <a:srgbClr val="FFFFFF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 rot="5400000">
            <a:off x="4668203" y="2570797"/>
            <a:ext cx="6858000" cy="1716405"/>
          </a:xfrm>
          <a:prstGeom prst="rect">
            <a:avLst/>
          </a:prstGeom>
          <a:solidFill>
            <a:schemeClr val="accent2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15200" y="274638"/>
            <a:ext cx="1447800" cy="5851525"/>
          </a:xfrm>
        </p:spPr>
        <p:txBody>
          <a:bodyPr vert="eaVert" anchor="b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199" y="274638"/>
            <a:ext cx="6353175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859F4-C32E-4C04-81BD-966633CAC503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96000" y="6356350"/>
            <a:ext cx="762000" cy="365125"/>
          </a:xfrm>
        </p:spPr>
        <p:txBody>
          <a:bodyPr/>
          <a:lstStyle/>
          <a:p>
            <a:fld id="{740E7D30-C3BC-4480-A45C-5BDF31026CB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 rot="5400000">
            <a:off x="3681476" y="3354324"/>
            <a:ext cx="6858000" cy="149352"/>
          </a:xfrm>
          <a:prstGeom prst="rect">
            <a:avLst/>
          </a:prstGeom>
          <a:solidFill>
            <a:schemeClr val="accent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100584"/>
            <a:ext cx="9144000" cy="1453896"/>
          </a:xfrm>
          <a:prstGeom prst="rect">
            <a:avLst/>
          </a:prstGeom>
          <a:solidFill>
            <a:srgbClr val="FFFFFF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67641"/>
            <a:ext cx="9144000" cy="1154314"/>
          </a:xfrm>
          <a:prstGeom prst="rect">
            <a:avLst/>
          </a:prstGeom>
          <a:solidFill>
            <a:schemeClr val="accent2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11116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4CA859F4-C32E-4C04-81BD-966633CAC503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740E7D30-C3BC-4480-A45C-5BDF31026CB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1368552"/>
            <a:ext cx="9144000" cy="149352"/>
          </a:xfrm>
          <a:prstGeom prst="rect">
            <a:avLst/>
          </a:prstGeom>
          <a:solidFill>
            <a:schemeClr val="accent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b="0" kern="1200" cap="none" spc="0">
          <a:ln w="13970" cmpd="sng">
            <a:solidFill>
              <a:srgbClr val="FFFFFF"/>
            </a:solidFill>
            <a:prstDash val="solid"/>
          </a:ln>
          <a:solidFill>
            <a:srgbClr val="FFFFFF"/>
          </a:solidFill>
          <a:effectLst>
            <a:outerShdw blurRad="63500" dir="3600000" algn="tl" rotWithShape="0">
              <a:srgbClr val="000000">
                <a:alpha val="7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SzPct val="75000"/>
        <a:buFont typeface="Wingdings" pitchFamily="2" charset="2"/>
        <a:buChar char="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Courier New" pitchFamily="49" charset="0"/>
        <a:buChar char="o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accent6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f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762000"/>
            <a:ext cx="7772400" cy="993775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Article-</a:t>
            </a:r>
            <a:r>
              <a:rPr lang="en-US" b="1" dirty="0" smtClean="0"/>
              <a:t>Data Warehouse</a:t>
            </a:r>
            <a:br>
              <a:rPr lang="en-US" b="1" dirty="0" smtClean="0"/>
            </a:br>
            <a:r>
              <a:rPr lang="en-US" dirty="0" smtClean="0"/>
              <a:t>by- </a:t>
            </a:r>
            <a:r>
              <a:rPr lang="en-US" b="1" dirty="0" smtClean="0"/>
              <a:t>SHUBHAM CHAVAN</a:t>
            </a:r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566928" y="2133600"/>
            <a:ext cx="7772400" cy="2895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81000" y="3048000"/>
            <a:ext cx="7772400" cy="2191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 typeface="Wingdings" pitchFamily="2" charset="2"/>
              <a:buChar char="Ø"/>
            </a:pPr>
            <a:r>
              <a:rPr lang="en-US" sz="3300" dirty="0" smtClean="0"/>
              <a:t>Data </a:t>
            </a:r>
            <a:r>
              <a:rPr lang="en-US" sz="3300" dirty="0"/>
              <a:t>Warehouse </a:t>
            </a:r>
            <a:r>
              <a:rPr lang="en-US" sz="3300" dirty="0" smtClean="0"/>
              <a:t>Architecture</a:t>
            </a:r>
          </a:p>
          <a:p>
            <a:pPr marL="342900" indent="-342900" algn="l">
              <a:buFont typeface="Wingdings" pitchFamily="2" charset="2"/>
              <a:buChar char="Ø"/>
            </a:pPr>
            <a:r>
              <a:rPr lang="en-US" sz="3300" dirty="0" smtClean="0"/>
              <a:t>Introduction to </a:t>
            </a:r>
            <a:r>
              <a:rPr lang="en-US" sz="3300" dirty="0" err="1" smtClean="0"/>
              <a:t>DataWarehouse</a:t>
            </a:r>
            <a:endParaRPr lang="en-US" sz="3300" dirty="0"/>
          </a:p>
          <a:p>
            <a:pPr marL="342900" indent="-342900" algn="l">
              <a:buFont typeface="Wingdings" pitchFamily="2" charset="2"/>
              <a:buChar char="Ø"/>
            </a:pPr>
            <a:r>
              <a:rPr lang="en-US" sz="3300" dirty="0" smtClean="0"/>
              <a:t> </a:t>
            </a:r>
            <a:r>
              <a:rPr lang="en-US" sz="3300" dirty="0"/>
              <a:t>What is Meta Data in Data Warehousing</a:t>
            </a:r>
            <a:r>
              <a:rPr lang="en-US" sz="3300" dirty="0" smtClean="0"/>
              <a:t>?</a:t>
            </a:r>
          </a:p>
          <a:p>
            <a:pPr marL="342900" indent="-342900" algn="l">
              <a:buFont typeface="Wingdings" pitchFamily="2" charset="2"/>
              <a:buChar char="Ø"/>
            </a:pPr>
            <a:r>
              <a:rPr lang="en-US" sz="3300" dirty="0" smtClean="0"/>
              <a:t>Examples Of Metadata</a:t>
            </a:r>
          </a:p>
          <a:p>
            <a:pPr marL="342900" indent="-342900" algn="l">
              <a:buFont typeface="Wingdings" pitchFamily="2" charset="2"/>
              <a:buChar char="Ø"/>
            </a:pPr>
            <a:r>
              <a:rPr lang="en-US" sz="3300" dirty="0"/>
              <a:t>Types of Metadata in Data Warehousing</a:t>
            </a:r>
            <a:endParaRPr lang="en-US" sz="3300" dirty="0" smtClean="0"/>
          </a:p>
          <a:p>
            <a:endParaRPr lang="en-US" sz="2200" dirty="0" smtClean="0"/>
          </a:p>
          <a:p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76200"/>
            <a:ext cx="1714500" cy="17145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322602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3246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Data Warehouse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569720"/>
            <a:ext cx="8229600" cy="480856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4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76200"/>
            <a:ext cx="1714500" cy="149352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9902947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2286000"/>
            <a:ext cx="8229600" cy="3078163"/>
          </a:xfrm>
        </p:spPr>
        <p:txBody>
          <a:bodyPr>
            <a:normAutofit/>
          </a:bodyPr>
          <a:lstStyle/>
          <a:p>
            <a:r>
              <a:rPr lang="en-US" dirty="0"/>
              <a:t>Data warehousing is the process of collecting, integrating, storing and managing data from multiple sources in a central repository. It enables organizations to organize large volumes of current and historical data for efficient querying, analysis and </a:t>
            </a:r>
            <a:r>
              <a:rPr lang="en-US" dirty="0" smtClean="0"/>
              <a:t>reporting.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600"/>
            <a:ext cx="6096000" cy="1066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4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76200"/>
            <a:ext cx="1714500" cy="17145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1082624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6400800" cy="1371600"/>
          </a:xfrm>
        </p:spPr>
        <p:txBody>
          <a:bodyPr>
            <a:normAutofit fontScale="90000"/>
          </a:bodyPr>
          <a:lstStyle/>
          <a:p>
            <a:r>
              <a:rPr lang="en-US" sz="3600" b="1" dirty="0" smtClean="0"/>
              <a:t>What is Meta Data in Data Warehousing?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/>
              <a:t>Metadata in data warehousing is data that describes other data. It provides information about the structure, meaning, origin, and usage of data stored in a data warehouse. Instead of containing actual business data, metadata acts as a guidebook that helps users and systems understand how data is organized and how it should be used.</a:t>
            </a:r>
          </a:p>
          <a:p>
            <a:pPr fontAlgn="base"/>
            <a:r>
              <a:rPr lang="en-US" dirty="0"/>
              <a:t>For example: if a customer's purchase amount is the data, then the information about when the purchase was made, the data type, and the source system is its metadata.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76200"/>
            <a:ext cx="1714500" cy="15240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9419492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476250"/>
            <a:ext cx="7155180" cy="9144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Examples of Metadata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0"/>
            <a:ext cx="8229600" cy="5211763"/>
          </a:xfrm>
        </p:spPr>
        <p:txBody>
          <a:bodyPr>
            <a:noAutofit/>
          </a:bodyPr>
          <a:lstStyle/>
          <a:p>
            <a:pPr fontAlgn="base"/>
            <a:r>
              <a:rPr lang="en-US" sz="1600" b="1" dirty="0" smtClean="0"/>
              <a:t>File </a:t>
            </a:r>
            <a:r>
              <a:rPr lang="en-US" sz="1600" b="1" dirty="0"/>
              <a:t>metadata:</a:t>
            </a:r>
            <a:r>
              <a:rPr lang="en-US" sz="1600" dirty="0"/>
              <a:t> </a:t>
            </a:r>
            <a:endParaRPr lang="en-US" sz="1600" dirty="0" smtClean="0"/>
          </a:p>
          <a:p>
            <a:pPr fontAlgn="base"/>
            <a:r>
              <a:rPr lang="en-US" sz="1600" dirty="0" smtClean="0"/>
              <a:t>This </a:t>
            </a:r>
            <a:r>
              <a:rPr lang="en-US" sz="1600" dirty="0"/>
              <a:t>includes information about a file, such as its name, size, type, and creation date.</a:t>
            </a:r>
          </a:p>
          <a:p>
            <a:pPr fontAlgn="base"/>
            <a:r>
              <a:rPr lang="en-US" sz="1600" b="1" dirty="0"/>
              <a:t>Image metadata:</a:t>
            </a:r>
            <a:r>
              <a:rPr lang="en-US" sz="1600" dirty="0"/>
              <a:t> </a:t>
            </a:r>
            <a:endParaRPr lang="en-US" sz="1600" dirty="0" smtClean="0"/>
          </a:p>
          <a:p>
            <a:pPr fontAlgn="base"/>
            <a:r>
              <a:rPr lang="en-US" sz="1600" dirty="0" smtClean="0"/>
              <a:t>This </a:t>
            </a:r>
            <a:r>
              <a:rPr lang="en-US" sz="1600" dirty="0"/>
              <a:t>includes information about an image, such as its resolution, color depth, and camera settings.</a:t>
            </a:r>
          </a:p>
          <a:p>
            <a:pPr fontAlgn="base"/>
            <a:r>
              <a:rPr lang="en-US" sz="1600" b="1" dirty="0"/>
              <a:t>Music metadata:</a:t>
            </a:r>
            <a:r>
              <a:rPr lang="en-US" sz="1600" dirty="0"/>
              <a:t> </a:t>
            </a:r>
            <a:endParaRPr lang="en-US" sz="1600" dirty="0" smtClean="0"/>
          </a:p>
          <a:p>
            <a:pPr fontAlgn="base"/>
            <a:r>
              <a:rPr lang="en-US" sz="1600" dirty="0" smtClean="0"/>
              <a:t>This </a:t>
            </a:r>
            <a:r>
              <a:rPr lang="en-US" sz="1600" dirty="0"/>
              <a:t>includes information about a piece of music, such as its title, artist, album, and genre.</a:t>
            </a:r>
          </a:p>
          <a:p>
            <a:pPr fontAlgn="base"/>
            <a:r>
              <a:rPr lang="en-US" sz="1600" b="1" dirty="0"/>
              <a:t>Video metadata:</a:t>
            </a:r>
            <a:r>
              <a:rPr lang="en-US" sz="1600" dirty="0"/>
              <a:t> </a:t>
            </a:r>
            <a:endParaRPr lang="en-US" sz="1600" dirty="0" smtClean="0"/>
          </a:p>
          <a:p>
            <a:pPr fontAlgn="base"/>
            <a:r>
              <a:rPr lang="en-US" sz="1600" dirty="0" smtClean="0"/>
              <a:t>This </a:t>
            </a:r>
            <a:r>
              <a:rPr lang="en-US" sz="1600" dirty="0"/>
              <a:t>includes information about a video, such as its length, resolution, and frame rate.</a:t>
            </a:r>
          </a:p>
          <a:p>
            <a:pPr fontAlgn="base"/>
            <a:r>
              <a:rPr lang="en-US" sz="1600" b="1" dirty="0"/>
              <a:t>Document metadata: </a:t>
            </a:r>
            <a:endParaRPr lang="en-US" sz="1600" b="1" dirty="0" smtClean="0"/>
          </a:p>
          <a:p>
            <a:pPr fontAlgn="base"/>
            <a:r>
              <a:rPr lang="en-US" sz="1600" dirty="0" smtClean="0"/>
              <a:t>This </a:t>
            </a:r>
            <a:r>
              <a:rPr lang="en-US" sz="1600" dirty="0"/>
              <a:t>includes information about a document, such as its author, title, and creation date.</a:t>
            </a:r>
          </a:p>
          <a:p>
            <a:pPr fontAlgn="base"/>
            <a:r>
              <a:rPr lang="en-US" sz="1600" b="1" dirty="0"/>
              <a:t>Database metadata: </a:t>
            </a:r>
            <a:endParaRPr lang="en-US" sz="1600" b="1" dirty="0" smtClean="0"/>
          </a:p>
          <a:p>
            <a:pPr fontAlgn="base"/>
            <a:r>
              <a:rPr lang="en-US" sz="1600" dirty="0" smtClean="0"/>
              <a:t>This </a:t>
            </a:r>
            <a:r>
              <a:rPr lang="en-US" sz="1600" dirty="0"/>
              <a:t>includes information about a database, such as its structure, tables, and fields.</a:t>
            </a:r>
          </a:p>
          <a:p>
            <a:pPr fontAlgn="base"/>
            <a:r>
              <a:rPr lang="en-US" sz="1600" b="1" dirty="0"/>
              <a:t>Web metadata: </a:t>
            </a:r>
            <a:endParaRPr lang="en-US" sz="1600" b="1" dirty="0" smtClean="0"/>
          </a:p>
          <a:p>
            <a:pPr fontAlgn="base"/>
            <a:r>
              <a:rPr lang="en-US" sz="1600" dirty="0" smtClean="0"/>
              <a:t>This </a:t>
            </a:r>
            <a:r>
              <a:rPr lang="en-US" sz="1600" dirty="0"/>
              <a:t>includes information about a web page, such as its title, keywords, and description.</a:t>
            </a:r>
          </a:p>
          <a:p>
            <a:endParaRPr lang="en-US" sz="16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76200"/>
            <a:ext cx="1714500" cy="17145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905150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355" y="533400"/>
            <a:ext cx="68580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</a:t>
            </a:r>
            <a:r>
              <a:rPr lang="en-US" b="1" dirty="0" smtClean="0"/>
              <a:t>ypes of Metadata in Data Warehousing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fontAlgn="base"/>
            <a:r>
              <a:rPr lang="en-US" sz="4500" b="1" dirty="0" smtClean="0"/>
              <a:t>1</a:t>
            </a:r>
            <a:r>
              <a:rPr lang="en-US" sz="5000" b="1" dirty="0"/>
              <a:t>.</a:t>
            </a:r>
            <a:r>
              <a:rPr lang="en-US" b="1" dirty="0"/>
              <a:t> </a:t>
            </a:r>
            <a:r>
              <a:rPr lang="en-US" sz="4200" b="1" dirty="0"/>
              <a:t>Business Metadata</a:t>
            </a:r>
          </a:p>
          <a:p>
            <a:pPr fontAlgn="base"/>
            <a:r>
              <a:rPr lang="en-US" sz="3500" dirty="0"/>
              <a:t>Business metadata describes data in business-friendly terms so that non-technical users can understand it easily.</a:t>
            </a:r>
          </a:p>
          <a:p>
            <a:pPr fontAlgn="base"/>
            <a:r>
              <a:rPr lang="en-US" sz="3500" dirty="0"/>
              <a:t>Examples:</a:t>
            </a:r>
          </a:p>
          <a:p>
            <a:pPr fontAlgn="base"/>
            <a:r>
              <a:rPr lang="en-US" sz="3500" dirty="0"/>
              <a:t>Meaning of a column like </a:t>
            </a:r>
            <a:r>
              <a:rPr lang="en-US" sz="3500" dirty="0" smtClean="0"/>
              <a:t>Customer ID</a:t>
            </a:r>
            <a:endParaRPr lang="en-US" sz="3500" dirty="0"/>
          </a:p>
          <a:p>
            <a:pPr fontAlgn="base"/>
            <a:r>
              <a:rPr lang="en-US" sz="3500" dirty="0"/>
              <a:t>Business rules for calculating "Total Sales"</a:t>
            </a:r>
          </a:p>
          <a:p>
            <a:pPr fontAlgn="base"/>
            <a:r>
              <a:rPr lang="en-US" sz="3500" dirty="0"/>
              <a:t>Report definitions and KPIs</a:t>
            </a:r>
          </a:p>
          <a:p>
            <a:pPr fontAlgn="base"/>
            <a:r>
              <a:rPr lang="en-US" sz="4200" b="1" dirty="0"/>
              <a:t>2. Technical Metadata</a:t>
            </a:r>
          </a:p>
          <a:p>
            <a:pPr fontAlgn="base"/>
            <a:r>
              <a:rPr lang="en-US" sz="3500" dirty="0"/>
              <a:t>Technical metadata focuses on the physical and structural aspects of data.</a:t>
            </a:r>
          </a:p>
          <a:p>
            <a:pPr fontAlgn="base"/>
            <a:r>
              <a:rPr lang="en-US" sz="3500" dirty="0"/>
              <a:t>Examples:</a:t>
            </a:r>
          </a:p>
          <a:p>
            <a:pPr fontAlgn="base"/>
            <a:r>
              <a:rPr lang="en-US" sz="3500" dirty="0"/>
              <a:t>Table and column names</a:t>
            </a:r>
          </a:p>
          <a:p>
            <a:pPr fontAlgn="base"/>
            <a:r>
              <a:rPr lang="en-US" sz="3500" dirty="0"/>
              <a:t>Data types (VARCHAR, INT, DATE, etc.)</a:t>
            </a:r>
          </a:p>
          <a:p>
            <a:pPr fontAlgn="base"/>
            <a:r>
              <a:rPr lang="en-US" sz="3500" dirty="0"/>
              <a:t>Indexes, partitions, and storage locations</a:t>
            </a:r>
          </a:p>
          <a:p>
            <a:pPr fontAlgn="base"/>
            <a:r>
              <a:rPr lang="en-US" sz="4200" b="1" dirty="0"/>
              <a:t>3. Operational Metadata</a:t>
            </a:r>
          </a:p>
          <a:p>
            <a:pPr fontAlgn="base"/>
            <a:r>
              <a:rPr lang="en-US" sz="3500" dirty="0"/>
              <a:t>Operational metadata tracks process-related information about how data moves and changes.</a:t>
            </a:r>
          </a:p>
          <a:p>
            <a:pPr fontAlgn="base"/>
            <a:r>
              <a:rPr lang="en-US" sz="3500" dirty="0"/>
              <a:t>Examples:</a:t>
            </a:r>
          </a:p>
          <a:p>
            <a:pPr fontAlgn="base"/>
            <a:r>
              <a:rPr lang="en-US" sz="3500" dirty="0"/>
              <a:t>Data load timestamps</a:t>
            </a:r>
          </a:p>
          <a:p>
            <a:pPr fontAlgn="base"/>
            <a:r>
              <a:rPr lang="en-US" sz="3500" dirty="0" smtClean="0"/>
              <a:t>Error </a:t>
            </a:r>
            <a:r>
              <a:rPr lang="en-US" sz="3500" dirty="0"/>
              <a:t>logs and refresh </a:t>
            </a:r>
            <a:r>
              <a:rPr lang="en-US" sz="3500" dirty="0" smtClean="0"/>
              <a:t>cycles</a:t>
            </a:r>
            <a:endParaRPr lang="en-US" sz="35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76200"/>
            <a:ext cx="1714500" cy="17145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713145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2057400"/>
            <a:ext cx="4343400" cy="243840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24180275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ecatur">
  <a:themeElements>
    <a:clrScheme name="Decatur">
      <a:dk1>
        <a:sysClr val="windowText" lastClr="000000"/>
      </a:dk1>
      <a:lt1>
        <a:sysClr val="window" lastClr="FFFFFF"/>
      </a:lt1>
      <a:dk2>
        <a:srgbClr val="55554A"/>
      </a:dk2>
      <a:lt2>
        <a:srgbClr val="D7DAE1"/>
      </a:lt2>
      <a:accent1>
        <a:srgbClr val="F4680B"/>
      </a:accent1>
      <a:accent2>
        <a:srgbClr val="ABB19F"/>
      </a:accent2>
      <a:accent3>
        <a:srgbClr val="948774"/>
      </a:accent3>
      <a:accent4>
        <a:srgbClr val="7EB8E7"/>
      </a:accent4>
      <a:accent5>
        <a:srgbClr val="E3B651"/>
      </a:accent5>
      <a:accent6>
        <a:srgbClr val="96756C"/>
      </a:accent6>
      <a:hlink>
        <a:srgbClr val="66AACD"/>
      </a:hlink>
      <a:folHlink>
        <a:srgbClr val="809DB3"/>
      </a:folHlink>
    </a:clrScheme>
    <a:fontScheme name="Decatur">
      <a:majorFont>
        <a:latin typeface="Bodoni MT Condensed"/>
        <a:ea typeface=""/>
        <a:cs typeface=""/>
        <a:font script="Grek" typeface="Times New Roman"/>
        <a:font script="Cyrl" typeface="Times New Roman"/>
        <a:font script="Jpan" typeface="HG明朝E"/>
        <a:font script="Hang" typeface="HY목각파임B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Arial"/>
        <a:font script="Cyrl" typeface="Arial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catur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  <a:satMod val="110000"/>
              </a:schemeClr>
            </a:gs>
            <a:gs pos="47500">
              <a:schemeClr val="phClr">
                <a:tint val="53000"/>
                <a:satMod val="120000"/>
              </a:schemeClr>
            </a:gs>
            <a:gs pos="58500">
              <a:schemeClr val="phClr">
                <a:tint val="53000"/>
                <a:satMod val="120000"/>
              </a:schemeClr>
            </a:gs>
            <a:gs pos="100000">
              <a:schemeClr val="phClr">
                <a:tint val="90000"/>
                <a:satMod val="110000"/>
              </a:schemeClr>
            </a:gs>
          </a:gsLst>
          <a:lin ang="3600000" scaled="1"/>
        </a:gradFill>
        <a:gradFill rotWithShape="1">
          <a:gsLst>
            <a:gs pos="0">
              <a:schemeClr val="phClr">
                <a:shade val="54000"/>
                <a:satMod val="105000"/>
              </a:schemeClr>
            </a:gs>
            <a:gs pos="47500">
              <a:schemeClr val="phClr">
                <a:shade val="88000"/>
                <a:satMod val="105000"/>
              </a:schemeClr>
            </a:gs>
            <a:gs pos="58500">
              <a:schemeClr val="phClr">
                <a:shade val="88000"/>
                <a:satMod val="105000"/>
              </a:schemeClr>
            </a:gs>
            <a:gs pos="100000">
              <a:schemeClr val="phClr">
                <a:shade val="54000"/>
                <a:satMod val="105000"/>
              </a:schemeClr>
            </a:gs>
          </a:gsLst>
          <a:lin ang="36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82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3600000" algn="r" rotWithShape="0">
              <a:srgbClr val="000000">
                <a:alpha val="30000"/>
              </a:srgbClr>
            </a:outerShdw>
          </a:effectLst>
        </a:effectStyle>
        <a:effectStyle>
          <a:effectLst>
            <a:outerShdw blurRad="63500" dist="25400" dir="3600000" algn="r" rotWithShape="0">
              <a:srgbClr val="000000">
                <a:alpha val="36000"/>
              </a:srgbClr>
            </a:outerShdw>
          </a:effectLst>
          <a:scene3d>
            <a:camera prst="orthographicFront">
              <a:rot lat="0" lon="0" rev="0"/>
            </a:camera>
            <a:lightRig rig="harsh" dir="tl">
              <a:rot lat="0" lon="0" rev="9000000"/>
            </a:lightRig>
          </a:scene3d>
          <a:sp3d prstMaterial="flat">
            <a:bevelT w="38100" h="50800" prst="softRound"/>
          </a:sp3d>
        </a:effectStyle>
        <a:effectStyle>
          <a:effectLst>
            <a:outerShdw blurRad="76200" dist="38100" dir="3600000" algn="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harsh" dir="tl">
              <a:rot lat="0" lon="0" rev="9000000"/>
            </a:lightRig>
          </a:scene3d>
          <a:sp3d contourW="44450" prstMaterial="flat">
            <a:bevelT w="38100" h="50800" prst="softRound"/>
            <a:contourClr>
              <a:schemeClr val="phClr">
                <a:tint val="5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52000"/>
                <a:satMod val="105000"/>
              </a:schemeClr>
            </a:gs>
            <a:gs pos="47500">
              <a:schemeClr val="phClr">
                <a:tint val="90000"/>
                <a:shade val="89000"/>
                <a:satMod val="105000"/>
              </a:schemeClr>
            </a:gs>
            <a:gs pos="58500">
              <a:schemeClr val="phClr">
                <a:tint val="85000"/>
                <a:shade val="89000"/>
                <a:satMod val="105000"/>
              </a:schemeClr>
            </a:gs>
            <a:gs pos="100000">
              <a:schemeClr val="phClr">
                <a:tint val="100000"/>
                <a:shade val="52000"/>
                <a:satMod val="105000"/>
              </a:schemeClr>
            </a:gs>
          </a:gsLst>
          <a:lin ang="36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5000"/>
                <a:satMod val="120000"/>
              </a:schemeClr>
            </a:duotone>
          </a:blip>
          <a:tile tx="0" ty="0" sx="52000" sy="52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TM01790490[[fn=Decatur]]</Template>
  <TotalTime>561</TotalTime>
  <Words>293</Words>
  <Application>Microsoft Office PowerPoint</Application>
  <PresentationFormat>On-screen Show (4:3)</PresentationFormat>
  <Paragraphs>44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Decatur</vt:lpstr>
      <vt:lpstr>Article-Data Warehouse by- SHUBHAM CHAVAN</vt:lpstr>
      <vt:lpstr>Data Warehouse Architecture</vt:lpstr>
      <vt:lpstr>PowerPoint Presentation</vt:lpstr>
      <vt:lpstr>What is Meta Data in Data Warehousing? </vt:lpstr>
      <vt:lpstr>Examples of Metadata </vt:lpstr>
      <vt:lpstr>Types of Metadata in Data Warehousing 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Presentation-Data Warehouse Presented by- SHUBHAM CHAVAN</dc:title>
  <dc:creator>Subham</dc:creator>
  <cp:lastModifiedBy>Subham</cp:lastModifiedBy>
  <cp:revision>19</cp:revision>
  <dcterms:created xsi:type="dcterms:W3CDTF">2025-12-28T04:45:50Z</dcterms:created>
  <dcterms:modified xsi:type="dcterms:W3CDTF">2026-01-02T09:18:56Z</dcterms:modified>
</cp:coreProperties>
</file>